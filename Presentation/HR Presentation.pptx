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65" r:id="rId4"/>
    <p:sldId id="274" r:id="rId5"/>
    <p:sldId id="275" r:id="rId6"/>
    <p:sldId id="279" r:id="rId7"/>
    <p:sldId id="280" r:id="rId8"/>
    <p:sldId id="281" r:id="rId9"/>
    <p:sldId id="282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1023"/>
    <a:srgbClr val="110205"/>
    <a:srgbClr val="1B0409"/>
    <a:srgbClr val="661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1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7CFB-4972-4486-94F3-FCCFDB9A0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CC9D3-E6E2-4BC0-A39D-4623B8871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EB5B5-5572-4CB4-B1E8-A50E4F7B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7E2F9-B4CE-4420-AC7C-D10C7906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5F77B-A82D-4A5B-AE36-D48A91EC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EEDE-30E1-444C-9272-A324D32C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1E9C2-98D9-4497-8780-A6D7BE196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72C5-AAB4-4F5F-8A54-66C9BFAD7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43D12-D63D-407B-8875-CE645308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F10B-4CAF-4F9B-A2D9-65C669EE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5CCC-1A56-4496-AFA4-D76ADFD3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2597-E886-4879-A44A-604BD1AEB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9EDF2-F218-410E-9835-49B5693E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B1DC-6FF4-41A0-A010-3AA33855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8A4F0-0D77-471D-8763-01E1F6DE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7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7511-EFD5-4EE9-BC58-8E10BBB1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A8D5-CFBC-4EC1-8421-3B806A3B8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5FBC7-684B-4962-98AD-F8F2AEAD9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6C0D-B73C-4333-9191-B09903E6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DC5D9-DE3C-4E2D-9A22-AB4C4161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7F4B5-241C-4B2C-AE7E-F21AB976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92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777A-59AD-4F59-9A40-2B7AB850B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485C9-C37D-4C1B-85F4-CD95DA51E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6660D-3016-4D34-9B53-6283A71EB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61068-05A6-4118-BD9E-F92A0082F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389C8-63FB-48F2-B64A-23BB03C98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8E820D-3870-4FD8-92B4-8BB27861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EF215-73C4-4B83-8E16-54ACE82F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88C3C-815E-496B-95C8-A1E352D7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38E1-ED51-4157-8441-3624D70E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F1D46-604B-4546-A898-BF61EB85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5BAF-8DBD-4F47-AE29-9948F364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89CDC-EEC4-44FA-93C6-2316CCB7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4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F5C20-E4C4-419C-B9FA-10E54E2D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25ACF-B752-415C-81A9-62409B9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28C10-E50B-487D-8EF8-F6BAA35E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6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06C1-930A-4BDD-BDF4-D6F54E95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EE64C-138E-44A7-A973-0C982388B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810B7-12FD-439B-8A1A-CCE112A25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B42D1-B948-49D6-BEC9-B37A5DEE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DF1A1-2C4F-4BDF-B9CC-AAE37929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BA481-98A3-4E1B-AB4E-49CE86BD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A59A-108C-45E3-8C85-E572B102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5D0E2-4EFB-43F0-AD67-413EB73C1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D48DD-B48D-4696-805B-FB06667C0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BBD8F-4724-4396-89D0-DE3F64E1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FD233-D02E-4B53-B4D6-6731884D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1556F-8CBC-4027-B8D3-79177F69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0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C42C-E8EC-4DF5-B70E-4229FF94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F6129-4182-43C1-A769-0FC77CBA0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AFD97-1AE9-4520-8D65-48E0EC72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1C831-6FA0-4D74-8F20-0D675631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EFF5-0EC2-4613-A4D7-43C502DB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5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FAFE6-6086-4616-A208-AE6F381CE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80B70-4C9B-4143-8B06-9145C7BCE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9CFE1-BDD1-4FCB-8C15-7BC615DB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1687B-320A-4710-A3B2-B1E1DAB1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45B90-54B1-4872-AE88-66D735BE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6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61022"/>
            </a:gs>
            <a:gs pos="42000">
              <a:srgbClr val="1B0409"/>
            </a:gs>
            <a:gs pos="65000">
              <a:srgbClr val="110205"/>
            </a:gs>
            <a:gs pos="100000">
              <a:srgbClr val="681023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5C7AC-C257-4B4A-8BAF-89271FCC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DC95F-F730-4CEB-9569-8E8E115DD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C65D7-5707-4619-A494-5724FA6C4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FBF4D-BD70-4F34-9747-A6734D91D4C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02F9D-5822-46A0-9D9F-2DCCA676D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F672D-8D6D-407D-9DAC-ED6D6FECD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54FF7-6486-4EE0-A57E-54ECDF063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5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747B-8513-4E8A-8868-966F6DEB5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494" y="1046000"/>
            <a:ext cx="11815011" cy="21143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HR Analytics: Workforce Performance, Risk Assessment, and Strategic Recommendations</a:t>
            </a:r>
            <a:endParaRPr lang="en-US" sz="13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C81DE-014F-4A98-B1D5-F7389F00D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979" y="4213394"/>
            <a:ext cx="4572000" cy="1655762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Transforming Employee Data into Predictive Retention Insights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C17BE-C794-4D19-BE71-C173CC4B2340}"/>
              </a:ext>
            </a:extLst>
          </p:cNvPr>
          <p:cNvSpPr txBox="1"/>
          <p:nvPr/>
        </p:nvSpPr>
        <p:spPr>
          <a:xfrm>
            <a:off x="7086601" y="3639630"/>
            <a:ext cx="61000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Mohamed Elsayed</a:t>
            </a:r>
            <a:endParaRPr lang="en-US" sz="3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Ahmed Said</a:t>
            </a:r>
            <a:endParaRPr lang="en-US" sz="3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Alaa </a:t>
            </a:r>
            <a:r>
              <a:rPr lang="en-US" sz="3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Hamdeen</a:t>
            </a:r>
            <a:endParaRPr lang="en-US" sz="3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Nada </a:t>
            </a:r>
            <a:r>
              <a:rPr lang="en-US" sz="3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Gaballah</a:t>
            </a:r>
            <a:endParaRPr lang="en-US" sz="3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Aya Mohamed</a:t>
            </a:r>
            <a:endParaRPr lang="en-US" sz="3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5B91E-3287-4E09-9F23-87A7447C8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6" y="-55210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69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Project Overview &amp; Objectives</a:t>
            </a:r>
            <a:endParaRPr lang="en-US" sz="8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506" y="2234696"/>
            <a:ext cx="5775158" cy="4351338"/>
          </a:xfrm>
        </p:spPr>
        <p:txBody>
          <a:bodyPr>
            <a:normAutofit/>
          </a:bodyPr>
          <a:lstStyle/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Analyze historical workforce performance and demographics.</a:t>
            </a:r>
            <a:endParaRPr lang="en-US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Identify operational gaps in management and training.</a:t>
            </a:r>
            <a:endParaRPr lang="en-US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Predict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future employee attrition using Machine Learning.</a:t>
            </a:r>
            <a:endParaRPr lang="en-US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8480B-C250-44C5-862E-759728BB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337" y="2234696"/>
            <a:ext cx="5775157" cy="225709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1,470 employees spanning the years 2013–2022.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the 5 key objectives or a simple icon set representing Data -&gt; Insight -&gt; Action.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E62A8-5FEA-49BD-9A3A-DF4AD406CAEF}"/>
              </a:ext>
            </a:extLst>
          </p:cNvPr>
          <p:cNvSpPr txBox="1"/>
          <p:nvPr/>
        </p:nvSpPr>
        <p:spPr>
          <a:xfrm>
            <a:off x="838199" y="1305680"/>
            <a:ext cx="11353801" cy="480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 move HR from reactive reporting to </a:t>
            </a:r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proactive, data-driven decision making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A92671-64C9-48EC-82D3-D5BDD2F84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4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76367"/>
            <a:ext cx="11710737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674" y="1095375"/>
            <a:ext cx="5149516" cy="46672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Current Attrition is 16.12%, but 14% of the Workforce is at Immediate Risk.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Metrics: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Overall Attrition Rate: 16.12% (Historical Baseline).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High-Risk Headcount: 208 Employees (Identified by ML Model).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Rating Alignment Gap: 0.51 (Self vs. Manager Perception gap).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039E474-5EFF-4816-9175-310FF5052D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/>
          <a:stretch/>
        </p:blipFill>
        <p:spPr>
          <a:xfrm>
            <a:off x="5151521" y="1095375"/>
            <a:ext cx="6978316" cy="501352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9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140538"/>
            <a:ext cx="11710737" cy="71354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Risk Assessment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125395"/>
            <a:ext cx="5795211" cy="46672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predictive model has identified specific "High-Risk" employees (Probability ≥ 80%</a:t>
            </a:r>
          </a:p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Risk by Department: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Sales: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20% Avg Risk (Highest).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Human Resources: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19% Avg Risk.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Technology: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13% Avg Risk.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Strategic Implication: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Retention efforts must be targeted, not generic.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D9CC9EF-D48C-4774-B560-5F9AFC6DED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8"/>
          <a:stretch/>
        </p:blipFill>
        <p:spPr>
          <a:xfrm>
            <a:off x="5486400" y="1121541"/>
            <a:ext cx="6718577" cy="477927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7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156580"/>
            <a:ext cx="11710737" cy="71354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Vulnerability: Early Tenure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568953"/>
            <a:ext cx="11710737" cy="245761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Both historical data and predictive modeling point to the same failure point.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Year 0 (New Hires):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31% Attrition Risk.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Year 1: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34% Attrition Risk.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Conclusion: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organization is failing to engage employees during the onboarding and initial development phase.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4AA99F5-5325-4C9D-94DB-31973E50A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8" t="72684" r="1628"/>
          <a:stretch/>
        </p:blipFill>
        <p:spPr>
          <a:xfrm>
            <a:off x="193358" y="4026568"/>
            <a:ext cx="11501338" cy="283143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BD0EE533-49A2-4259-95A9-5B922189B0C2}"/>
              </a:ext>
            </a:extLst>
          </p:cNvPr>
          <p:cNvSpPr txBox="1">
            <a:spLocks/>
          </p:cNvSpPr>
          <p:nvPr/>
        </p:nvSpPr>
        <p:spPr>
          <a:xfrm>
            <a:off x="224589" y="777964"/>
            <a:ext cx="11710737" cy="713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"Danger Zone" is the First 2 Years.</a:t>
            </a:r>
          </a:p>
        </p:txBody>
      </p:sp>
    </p:spTree>
    <p:extLst>
      <p:ext uri="{BB962C8B-B14F-4D97-AF65-F5344CB8AC3E}">
        <p14:creationId xmlns:p14="http://schemas.microsoft.com/office/powerpoint/2010/main" val="198278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191304"/>
            <a:ext cx="11710737" cy="8353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&amp; Performance Gaps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6672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Rating Disconnect: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Avg Self Rating: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3.98 vs. Avg Manager Rating: 3.47.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Gap (0.51):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Employees think they are performing better than managers do, leading to review-time dissatisfaction.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Training Decline: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Training utilization has dropped from a peak of 55.9% (2014) to 46.5% (2022).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C70DEB5-6323-4C6E-AF2C-16DC136D96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666" y="1570509"/>
            <a:ext cx="6636749" cy="407631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CB252859-C1BA-441E-93A9-A9F91FFC3F61}"/>
              </a:ext>
            </a:extLst>
          </p:cNvPr>
          <p:cNvSpPr txBox="1">
            <a:spLocks/>
          </p:cNvSpPr>
          <p:nvPr/>
        </p:nvSpPr>
        <p:spPr>
          <a:xfrm>
            <a:off x="164431" y="818150"/>
            <a:ext cx="11710737" cy="654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Alignment &amp; Training Issues.</a:t>
            </a:r>
          </a:p>
        </p:txBody>
      </p:sp>
    </p:spTree>
    <p:extLst>
      <p:ext uri="{BB962C8B-B14F-4D97-AF65-F5344CB8AC3E}">
        <p14:creationId xmlns:p14="http://schemas.microsoft.com/office/powerpoint/2010/main" val="147621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14292"/>
            <a:ext cx="11710737" cy="83979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Recommendations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4432" y="983080"/>
            <a:ext cx="11710737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Targeted Retention Intervention: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HR to pull the list of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Top 208 High-Risk Employees.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Conduct "Stay Interviews" specifically for Sales and HR departments.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Manager Calibration Training: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Launch training to fix the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0.51 Rating Gap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 Managers must communicate feedback before the formal review.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Revamp Onboarding (0-2 Years):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Implement 6-month and 12-month check-ins to stop the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34% early attrition bleed.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020A8D0A-7412-4EA9-B39A-7C34355A1E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29781" y="4186238"/>
            <a:ext cx="4100688" cy="2306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0"/>
            <a:ext cx="11710737" cy="85408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&amp; Next Steps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6672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Expected Impact: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Reduction in early-tenure turnover.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Improved manager-employee relationship scores.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Data-driven allocation of training budget.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Next Steps: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Deploy dashboard to Department Heads.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Begin screening of High-Risk list immediately.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8480B-C250-44C5-862E-759728BB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63126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365125"/>
            <a:ext cx="11710737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(The "Bottom Line")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8480B-C250-44C5-862E-759728BB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63126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365125"/>
            <a:ext cx="11710737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(The "Bottom Line")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8480B-C250-44C5-862E-759728BB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63126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09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8724C2-AA3C-463E-BA7F-66917BC7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365125"/>
            <a:ext cx="11710737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 (The "Bottom Line")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DE8E8D-A5A9-46A2-AD26-B6EE25640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8480B-C250-44C5-862E-759728BB8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63126" cy="466725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5D705-E99B-4E0F-AF12-D0737A2E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405" y="-352510"/>
            <a:ext cx="1206595" cy="120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4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479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HR Analytics: Workforce Performance, Risk Assessment, and Strategic Recommendations</vt:lpstr>
      <vt:lpstr>Project Overview &amp; Objectives</vt:lpstr>
      <vt:lpstr>Executive Summary</vt:lpstr>
      <vt:lpstr>Predictive Risk Assessment</vt:lpstr>
      <vt:lpstr>Critical Vulnerability: Early Tenure</vt:lpstr>
      <vt:lpstr>Operational &amp; Performance Gaps</vt:lpstr>
      <vt:lpstr>Strategic Recommendations</vt:lpstr>
      <vt:lpstr>Impact &amp; Next Steps</vt:lpstr>
      <vt:lpstr>Executive Summary (The "Bottom Line")</vt:lpstr>
      <vt:lpstr>Executive Summary (The "Bottom Line")</vt:lpstr>
      <vt:lpstr>Executive Summary (The "Bottom Line")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elsayed</dc:creator>
  <cp:lastModifiedBy>mohamed elsayed</cp:lastModifiedBy>
  <cp:revision>38</cp:revision>
  <dcterms:created xsi:type="dcterms:W3CDTF">2025-11-30T04:58:10Z</dcterms:created>
  <dcterms:modified xsi:type="dcterms:W3CDTF">2025-11-30T06:59:49Z</dcterms:modified>
</cp:coreProperties>
</file>