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7" r:id="rId3"/>
    <p:sldId id="265" r:id="rId4"/>
    <p:sldId id="274" r:id="rId5"/>
    <p:sldId id="275" r:id="rId6"/>
    <p:sldId id="279" r:id="rId7"/>
    <p:sldId id="280" r:id="rId8"/>
    <p:sldId id="281" r:id="rId9"/>
    <p:sldId id="28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1023"/>
    <a:srgbClr val="110205"/>
    <a:srgbClr val="1B0409"/>
    <a:srgbClr val="6610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6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7CFB-4972-4486-94F3-FCCFDB9A09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CC9D3-E6E2-4BC0-A39D-4623B8871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7EB5B5-5572-4CB4-B1E8-A50E4F7B9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7E2F9-B4CE-4420-AC7C-D10C79062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5F77B-A82D-4A5B-AE36-D48A91EC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767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BEEDE-30E1-444C-9272-A324D32C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1E9C2-98D9-4497-8780-A6D7BE196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072C5-AAB4-4F5F-8A54-66C9BFAD7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43D12-D63D-407B-8875-CE645308A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4F10B-4CAF-4F9B-A2D9-65C669EEC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594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E5CCC-1A56-4496-AFA4-D76ADFD39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EE2597-E886-4879-A44A-604BD1AEB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9EDF2-F218-410E-9835-49B5693E5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9B1DC-6FF4-41A0-A010-3AA338558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8A4F0-0D77-471D-8763-01E1F6DEA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67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B7511-EFD5-4EE9-BC58-8E10BBB14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0A8D5-CFBC-4EC1-8421-3B806A3B8F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15FBC7-684B-4962-98AD-F8F2AEAD9F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26C0D-B73C-4333-9191-B09903E6C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8DC5D9-DE3C-4E2D-9A22-AB4C4161E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77F4B5-241C-4B2C-AE7E-F21AB9764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992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A777A-59AD-4F59-9A40-2B7AB850B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485C9-C37D-4C1B-85F4-CD95DA51E9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66660D-3016-4D34-9B53-6283A71EB4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A61068-05A6-4118-BD9E-F92A0082FB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0389C8-63FB-48F2-B64A-23BB03C98C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8E820D-3870-4FD8-92B4-8BB278612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5EF215-73C4-4B83-8E16-54ACE82FA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88C3C-815E-496B-95C8-A1E352D70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56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D38E1-ED51-4157-8441-3624D70E7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EF1D46-604B-4546-A898-BF61EB856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005BAF-8DBD-4F47-AE29-9948F364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89CDC-EEC4-44FA-93C6-2316CCB73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241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7F5C20-E4C4-419C-B9FA-10E54E2DA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925ACF-B752-415C-81A9-62409B988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28C10-E50B-487D-8EF8-F6BAA35E5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62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206C1-930A-4BDD-BDF4-D6F54E95F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CEE64C-138E-44A7-A973-0C982388B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8810B7-12FD-439B-8A1A-CCE112A256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AB42D1-B948-49D6-BEC9-B37A5DEE8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2DF1A1-2C4F-4BDF-B9CC-AAE37929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3BA481-98A3-4E1B-AB4E-49CE86BD5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59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FA59A-108C-45E3-8C85-E572B1020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05D0E2-4EFB-43F0-AD67-413EB73C16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1D48DD-B48D-4696-805B-FB06667C0A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7BBD8F-4724-4396-89D0-DE3F64E1C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AFD233-D02E-4B53-B4D6-6731884D2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1556F-8CBC-4027-B8D3-79177F698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00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BC42C-E8EC-4DF5-B70E-4229FF948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5F6129-4182-43C1-A769-0FC77CBA06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4AFD97-1AE9-4520-8D65-48E0EC722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D1C831-6FA0-4D74-8F20-0D675631C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FAEFF5-0EC2-4613-A4D7-43C502DB0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450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BFAFE6-6086-4616-A208-AE6F381CED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F80B70-4C9B-4143-8B06-9145C7BCE7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9CFE1-BDD1-4FCB-8C15-7BC615DBE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41687B-320A-4710-A3B2-B1E1DAB12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45B90-54B1-4872-AE88-66D735BEA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060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61022"/>
            </a:gs>
            <a:gs pos="42000">
              <a:srgbClr val="1B0409"/>
            </a:gs>
            <a:gs pos="65000">
              <a:srgbClr val="110205"/>
            </a:gs>
            <a:gs pos="100000">
              <a:srgbClr val="681023"/>
            </a:gs>
          </a:gsLst>
          <a:lin ang="27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35C7AC-C257-4B4A-8BAF-89271FCCB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4DC95F-F730-4CEB-9569-8E8E115DD6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C65D7-5707-4619-A494-5724FA6C4C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9FBF4D-BD70-4F34-9747-A6734D91D4CE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02F9D-5822-46A0-9D9F-2DCCA676D6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F672D-8D6D-407D-9DAC-ED6D6FECDE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C54FF7-6486-4EE0-A57E-54ECDF063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753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1747B-8513-4E8A-8868-966F6DEB5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494" y="1046000"/>
            <a:ext cx="11815011" cy="2114300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HR Analytics: Workforce Performance, Risk Assessment, and Strategic Recommendations</a:t>
            </a:r>
            <a:endParaRPr lang="en-US" sz="13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2C81DE-014F-4A98-B1D5-F7389F00D7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979" y="4213394"/>
            <a:ext cx="4572000" cy="1655762"/>
          </a:xfrm>
        </p:spPr>
        <p:txBody>
          <a:bodyPr>
            <a:norm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Transforming Employee Data into Predictive Retention Insights</a:t>
            </a:r>
            <a:endParaRPr 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C17BE-C794-4D19-BE71-C173CC4B2340}"/>
              </a:ext>
            </a:extLst>
          </p:cNvPr>
          <p:cNvSpPr txBox="1"/>
          <p:nvPr/>
        </p:nvSpPr>
        <p:spPr>
          <a:xfrm>
            <a:off x="7167561" y="3811012"/>
            <a:ext cx="610001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Mohamed Elsayed</a:t>
            </a:r>
            <a:endParaRPr lang="en-US" sz="3200" b="1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Ahmed Said</a:t>
            </a:r>
            <a:endParaRPr lang="en-US" sz="3200" b="1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Alaa </a:t>
            </a:r>
            <a:r>
              <a:rPr lang="en-US" sz="3200" b="1" i="0" dirty="0" err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Hamdeen</a:t>
            </a:r>
            <a:endParaRPr lang="en-US" sz="3200" b="1" i="0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Aya </a:t>
            </a:r>
            <a:r>
              <a:rPr lang="en-US" sz="32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Moustafa</a:t>
            </a:r>
            <a:endParaRPr lang="en-US" sz="3200" b="1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Nada </a:t>
            </a:r>
            <a:r>
              <a:rPr lang="en-US" sz="3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Mahmoud</a:t>
            </a:r>
          </a:p>
          <a:p>
            <a:endParaRPr lang="en-US" sz="3200" b="1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F5B91E-3287-4E09-9F23-87A7447C83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36" y="-552109"/>
            <a:ext cx="2143125" cy="21431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5D9FEB-6CD8-4591-AB0B-144233B0C22F}"/>
              </a:ext>
            </a:extLst>
          </p:cNvPr>
          <p:cNvSpPr txBox="1"/>
          <p:nvPr/>
        </p:nvSpPr>
        <p:spPr>
          <a:xfrm>
            <a:off x="1020277" y="6101843"/>
            <a:ext cx="43057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NHA-ALX3-DAT1-G3</a:t>
            </a:r>
          </a:p>
        </p:txBody>
      </p:sp>
    </p:spTree>
    <p:extLst>
      <p:ext uri="{BB962C8B-B14F-4D97-AF65-F5344CB8AC3E}">
        <p14:creationId xmlns:p14="http://schemas.microsoft.com/office/powerpoint/2010/main" val="2529186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58724C2-AA3C-463E-BA7F-66917BC7A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369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Project Overview &amp; Objectives</a:t>
            </a:r>
            <a:endParaRPr lang="en-US" sz="8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DE8E8D-A5A9-46A2-AD26-B6EE25640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92506" y="2234696"/>
            <a:ext cx="5775158" cy="4351338"/>
          </a:xfrm>
        </p:spPr>
        <p:txBody>
          <a:bodyPr>
            <a:normAutofit/>
          </a:bodyPr>
          <a:lstStyle/>
          <a:p>
            <a:pPr marL="742950" marR="0" lvl="1" indent="-28575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Font typeface="+mj-lt"/>
              <a:buAutoNum type="arabicPeriod"/>
              <a:tabLst>
                <a:tab pos="914400" algn="l"/>
              </a:tabLst>
            </a:pPr>
            <a:r>
              <a:rPr lang="en-US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Analyze historical workforce performance and demographics.</a:t>
            </a:r>
            <a:endParaRPr lang="en-US" dirty="0">
              <a:solidFill>
                <a:schemeClr val="bg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Font typeface="+mj-lt"/>
              <a:buAutoNum type="arabicPeriod"/>
              <a:tabLst>
                <a:tab pos="914400" algn="l"/>
              </a:tabLst>
            </a:pPr>
            <a:r>
              <a:rPr lang="en-US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Identify operational gaps in management and training.</a:t>
            </a:r>
            <a:endParaRPr lang="en-US" dirty="0">
              <a:solidFill>
                <a:schemeClr val="bg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Font typeface="+mj-lt"/>
              <a:buAutoNum type="arabicPeriod"/>
              <a:tabLst>
                <a:tab pos="914400" algn="l"/>
              </a:tabLst>
            </a:pPr>
            <a:r>
              <a:rPr lang="en-US" b="1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Predict</a:t>
            </a:r>
            <a:r>
              <a:rPr lang="en-US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future employee attrition using Machine Learning.</a:t>
            </a:r>
            <a:endParaRPr lang="en-US" dirty="0">
              <a:solidFill>
                <a:schemeClr val="bg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2C8480B-C250-44C5-862E-759728BB8D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337" y="2234696"/>
            <a:ext cx="5775157" cy="2257093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 of 1,470 employees spanning the years 2013–2022.</a:t>
            </a:r>
          </a:p>
          <a:p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 of the 5 key objectives or a simple icon set representing Data -&gt; Insight -&gt; Action.</a:t>
            </a:r>
          </a:p>
          <a:p>
            <a:endParaRPr lang="en-US" sz="2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EE62A8-5FEA-49BD-9A3A-DF4AD406CAEF}"/>
              </a:ext>
            </a:extLst>
          </p:cNvPr>
          <p:cNvSpPr txBox="1"/>
          <p:nvPr/>
        </p:nvSpPr>
        <p:spPr>
          <a:xfrm>
            <a:off x="838199" y="1305680"/>
            <a:ext cx="11353801" cy="4809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ts val="1000"/>
              <a:tabLst>
                <a:tab pos="457200" algn="l"/>
              </a:tabLst>
            </a:pP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To move HR from reactive reporting to </a:t>
            </a:r>
            <a:r>
              <a:rPr lang="en-US" sz="2400" b="1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proactive, data-driven decision making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2400" dirty="0">
              <a:solidFill>
                <a:schemeClr val="bg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7A92671-64C9-48EC-82D3-D5BDD2F84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405" y="-352510"/>
            <a:ext cx="1206595" cy="120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1448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58724C2-AA3C-463E-BA7F-66917BC7A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431" y="76367"/>
            <a:ext cx="11710737" cy="1325563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Executive Summary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DE8E8D-A5A9-46A2-AD26-B6EE25640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6674" y="1095375"/>
            <a:ext cx="5149516" cy="466725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Current Attrition is 16.12%, but 14% of the Workforce is at Immediate Risk.</a:t>
            </a:r>
          </a:p>
          <a:p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Key Metrics: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Overall Attrition Rate: 16.12% (Historical Baseline).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High-Risk Headcount: 208 Employees (Identified by ML Model).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Rating Alignment Gap: 0.51 (Self vs. Manager Perception gap).</a:t>
            </a:r>
          </a:p>
          <a:p>
            <a:endParaRPr lang="en-US" sz="240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B039E474-5EFF-4816-9175-310FF5052D9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42"/>
          <a:stretch/>
        </p:blipFill>
        <p:spPr>
          <a:xfrm>
            <a:off x="5151521" y="1095375"/>
            <a:ext cx="6978316" cy="5013523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25D705-E99B-4E0F-AF12-D0737A2EAB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405" y="-352510"/>
            <a:ext cx="1206595" cy="120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7911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58724C2-AA3C-463E-BA7F-66917BC7A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589" y="140538"/>
            <a:ext cx="11710737" cy="713548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Predictive Risk Assessment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DE8E8D-A5A9-46A2-AD26-B6EE25640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4589" y="1125395"/>
            <a:ext cx="5795211" cy="466725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The predictive model has identified specific "High-Risk" employees (Probability ≥ 80%</a:t>
            </a:r>
          </a:p>
          <a:p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Risk by Department:</a:t>
            </a:r>
          </a:p>
          <a:p>
            <a:pPr lvl="1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Sales: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20% Avg Risk (Highest).</a:t>
            </a:r>
          </a:p>
          <a:p>
            <a:pPr lvl="1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Human Resources: 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19% Avg Risk.</a:t>
            </a:r>
          </a:p>
          <a:p>
            <a:pPr lvl="1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Technology: 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13% Avg Risk.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Strategic Implication: 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Retention efforts must be targeted, not generic.</a:t>
            </a:r>
          </a:p>
          <a:p>
            <a:endParaRPr lang="en-US" sz="240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4D9CC9EF-D48C-4774-B560-5F9AFC6DED5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8"/>
          <a:stretch/>
        </p:blipFill>
        <p:spPr>
          <a:xfrm>
            <a:off x="5486400" y="1121541"/>
            <a:ext cx="6718577" cy="477927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25D705-E99B-4E0F-AF12-D0737A2EAB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405" y="-352510"/>
            <a:ext cx="1206595" cy="120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2755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58724C2-AA3C-463E-BA7F-66917BC7A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589" y="156580"/>
            <a:ext cx="11710737" cy="713548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Critical Vulnerability: Early Tenure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DE8E8D-A5A9-46A2-AD26-B6EE25640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4589" y="1568953"/>
            <a:ext cx="11710737" cy="2457615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Both historical data and predictive modeling point to the same failure point.</a:t>
            </a:r>
          </a:p>
          <a:p>
            <a:pPr lvl="1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Year 0 (New Hires): 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31% Attrition Risk.</a:t>
            </a:r>
          </a:p>
          <a:p>
            <a:pPr lvl="1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Year 1: 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34% Attrition Risk.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Conclusion: 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The organization is failing to engage employees during the onboarding and initial development phase.</a:t>
            </a:r>
          </a:p>
          <a:p>
            <a:endParaRPr lang="en-US" sz="240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4AA99F5-5325-4C9D-94DB-31973E50ABA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8" t="72684" r="1628"/>
          <a:stretch/>
        </p:blipFill>
        <p:spPr>
          <a:xfrm>
            <a:off x="193358" y="4026568"/>
            <a:ext cx="11501338" cy="2831432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25D705-E99B-4E0F-AF12-D0737A2EAB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405" y="-352510"/>
            <a:ext cx="1206595" cy="1206595"/>
          </a:xfrm>
          <a:prstGeom prst="rect">
            <a:avLst/>
          </a:prstGeom>
        </p:spPr>
      </p:pic>
      <p:sp>
        <p:nvSpPr>
          <p:cNvPr id="6" name="Title 7">
            <a:extLst>
              <a:ext uri="{FF2B5EF4-FFF2-40B4-BE49-F238E27FC236}">
                <a16:creationId xmlns:a16="http://schemas.microsoft.com/office/drawing/2014/main" id="{BD0EE533-49A2-4259-95A9-5B922189B0C2}"/>
              </a:ext>
            </a:extLst>
          </p:cNvPr>
          <p:cNvSpPr txBox="1">
            <a:spLocks/>
          </p:cNvSpPr>
          <p:nvPr/>
        </p:nvSpPr>
        <p:spPr>
          <a:xfrm>
            <a:off x="224589" y="777964"/>
            <a:ext cx="11710737" cy="7135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"Danger Zone" is the First 2 Years.</a:t>
            </a:r>
          </a:p>
        </p:txBody>
      </p:sp>
    </p:spTree>
    <p:extLst>
      <p:ext uri="{BB962C8B-B14F-4D97-AF65-F5344CB8AC3E}">
        <p14:creationId xmlns:p14="http://schemas.microsoft.com/office/powerpoint/2010/main" val="19827870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58724C2-AA3C-463E-BA7F-66917BC7A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431" y="191304"/>
            <a:ext cx="11710737" cy="83539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Operational &amp; Performance Gaps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DE8E8D-A5A9-46A2-AD26-B6EE25640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4589" y="1825625"/>
            <a:ext cx="5795211" cy="4667250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Rating Disconnect:</a:t>
            </a:r>
          </a:p>
          <a:p>
            <a:pPr lvl="1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Avg Self Rating: 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3.98 vs. Avg Manager Rating: 3.47.</a:t>
            </a:r>
          </a:p>
          <a:p>
            <a:pPr lvl="1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Gap (0.51): 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Employees think they are performing better than managers do, leading to review-time dissatisfaction.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Training Decline: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Training utilization has dropped from a peak of 55.9% (2014) to 46.5% (2022).</a:t>
            </a:r>
          </a:p>
          <a:p>
            <a:endParaRPr lang="en-US" sz="240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7C70DEB5-6323-4C6E-AF2C-16DC136D966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2666" y="1570509"/>
            <a:ext cx="6636749" cy="4076312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25D705-E99B-4E0F-AF12-D0737A2EAB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405" y="-352510"/>
            <a:ext cx="1206595" cy="1206595"/>
          </a:xfrm>
          <a:prstGeom prst="rect">
            <a:avLst/>
          </a:prstGeom>
        </p:spPr>
      </p:pic>
      <p:sp>
        <p:nvSpPr>
          <p:cNvPr id="6" name="Title 7">
            <a:extLst>
              <a:ext uri="{FF2B5EF4-FFF2-40B4-BE49-F238E27FC236}">
                <a16:creationId xmlns:a16="http://schemas.microsoft.com/office/drawing/2014/main" id="{CB252859-C1BA-441E-93A9-A9F91FFC3F61}"/>
              </a:ext>
            </a:extLst>
          </p:cNvPr>
          <p:cNvSpPr txBox="1">
            <a:spLocks/>
          </p:cNvSpPr>
          <p:nvPr/>
        </p:nvSpPr>
        <p:spPr>
          <a:xfrm>
            <a:off x="164431" y="818150"/>
            <a:ext cx="11710737" cy="6545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Management Alignment &amp; Training Issues.</a:t>
            </a:r>
          </a:p>
        </p:txBody>
      </p:sp>
    </p:spTree>
    <p:extLst>
      <p:ext uri="{BB962C8B-B14F-4D97-AF65-F5344CB8AC3E}">
        <p14:creationId xmlns:p14="http://schemas.microsoft.com/office/powerpoint/2010/main" val="14762104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58724C2-AA3C-463E-BA7F-66917BC7A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589" y="14292"/>
            <a:ext cx="11710737" cy="839793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Recommendations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DE8E8D-A5A9-46A2-AD26-B6EE25640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4432" y="983080"/>
            <a:ext cx="11710737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Targeted Retention Intervention: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HR to pull the list of </a:t>
            </a: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Top 208 High-Risk Employees.</a:t>
            </a:r>
          </a:p>
          <a:p>
            <a:pPr lvl="1"/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Conduct "Stay Interviews" specifically for Sales and HR departments.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2. </a:t>
            </a:r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Manager Calibration Training: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Launch training to fix the </a:t>
            </a: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0.51 Rating Gap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 Managers must communicate feedback before the formal review.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3. </a:t>
            </a:r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Revamp Onboarding (0-2 Years):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Implement 6-month and 12-month check-ins to stop the </a:t>
            </a:r>
            <a:r>
              <a:rPr lang="en-US" sz="20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34% early attrition bleed.</a:t>
            </a:r>
          </a:p>
          <a:p>
            <a:endParaRPr lang="en-US" sz="240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pic>
        <p:nvPicPr>
          <p:cNvPr id="2" name="Content Placeholder 1">
            <a:extLst>
              <a:ext uri="{FF2B5EF4-FFF2-40B4-BE49-F238E27FC236}">
                <a16:creationId xmlns:a16="http://schemas.microsoft.com/office/drawing/2014/main" id="{020A8D0A-7412-4EA9-B39A-7C34355A1E1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29781" y="4186238"/>
            <a:ext cx="4100688" cy="23066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25D705-E99B-4E0F-AF12-D0737A2EAB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405" y="-352510"/>
            <a:ext cx="1206595" cy="120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436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58724C2-AA3C-463E-BA7F-66917BC7A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431" y="0"/>
            <a:ext cx="11710737" cy="854085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 &amp; Next Steps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DE8E8D-A5A9-46A2-AD26-B6EE25640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4589" y="1825625"/>
            <a:ext cx="5795211" cy="466725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Expected Impact: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Reduction in early-tenure turnover.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Improved manager-employee relationship scores.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Data-driven allocation of training budget.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Next Steps: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Deploy dashboard to Department Heads.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Begin screening of High-Risk list immediately.</a:t>
            </a:r>
          </a:p>
          <a:p>
            <a:endParaRPr lang="en-US" sz="240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25D705-E99B-4E0F-AF12-D0737A2EAB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405" y="-352510"/>
            <a:ext cx="1206595" cy="1206595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28400DA-F71B-475F-B8DC-1151013CE8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3"/>
          <a:srcRect t="6655" b="7114"/>
          <a:stretch/>
        </p:blipFill>
        <p:spPr>
          <a:xfrm>
            <a:off x="6968331" y="1825625"/>
            <a:ext cx="4351338" cy="375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478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1">
            <a:extLst>
              <a:ext uri="{FF2B5EF4-FFF2-40B4-BE49-F238E27FC236}">
                <a16:creationId xmlns:a16="http://schemas.microsoft.com/office/drawing/2014/main" id="{1B723469-4F2C-4B51-849D-B0EB561C139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/>
          <a:srcRect l="11915" t="27246" r="11915" b="25974"/>
          <a:stretch/>
        </p:blipFill>
        <p:spPr>
          <a:xfrm>
            <a:off x="2621280" y="1539240"/>
            <a:ext cx="6537960" cy="39166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67FE16-30E5-4840-BC7C-8CED7870F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36" y="-552109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68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</TotalTime>
  <Words>456</Words>
  <Application>Microsoft Office PowerPoint</Application>
  <PresentationFormat>Widescreen</PresentationFormat>
  <Paragraphs>61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HR Analytics: Workforce Performance, Risk Assessment, and Strategic Recommendations</vt:lpstr>
      <vt:lpstr>Project Overview &amp; Objectives</vt:lpstr>
      <vt:lpstr>Executive Summary</vt:lpstr>
      <vt:lpstr>Predictive Risk Assessment</vt:lpstr>
      <vt:lpstr>Critical Vulnerability: Early Tenure</vt:lpstr>
      <vt:lpstr>Operational &amp; Performance Gaps</vt:lpstr>
      <vt:lpstr>Strategic Recommendations</vt:lpstr>
      <vt:lpstr>Impact &amp; Next Steps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mohamed elsayed</dc:creator>
  <cp:lastModifiedBy>mohamed elsayed</cp:lastModifiedBy>
  <cp:revision>48</cp:revision>
  <dcterms:created xsi:type="dcterms:W3CDTF">2025-11-30T04:58:10Z</dcterms:created>
  <dcterms:modified xsi:type="dcterms:W3CDTF">2025-11-30T08:44:57Z</dcterms:modified>
</cp:coreProperties>
</file>